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46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2683C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355080"/>
            <a:ext cx="12188952" cy="45720"/>
          </a:xfrm>
          <a:prstGeom prst="rect">
            <a:avLst/>
          </a:prstGeom>
          <a:solidFill>
            <a:srgbClr val="3494B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" y="246888"/>
            <a:ext cx="923544" cy="87782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188720"/>
            <a:ext cx="11274552" cy="0"/>
          </a:xfrm>
          <a:prstGeom prst="line">
            <a:avLst/>
          </a:prstGeom>
          <a:noFill/>
          <a:ln w="19050">
            <a:solidFill>
              <a:srgbClr val="268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274320" y="6428232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Đại học CNTT&amp;TT Thái Nguyên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28232"/>
            <a:ext cx="822960" cy="402336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3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28232"/>
            <a:ext cx="822960" cy="402336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3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" y="438912"/>
            <a:ext cx="923544" cy="87782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502920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66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TRƯỜNG ĐẠI HỌC CÔNG NGHỆ THÔNG TIN VÀ TRUYỀN THÔNG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0" y="960120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KHOA KỸ THUẬT VÀ CÔNG NGHỆ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92024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BÁO CÁO KỸ THUẬT - ỨNG DỤNG IOT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1371600" y="2834640"/>
            <a:ext cx="94457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XÂY DỰNG MÔ HÌNH HỆ THỐNG IOT GIÁM SÁT NGẬP LỤT TRONG TẦNG HẦM GỬI XE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2926080" y="4389120"/>
            <a:ext cx="6309360" cy="0"/>
          </a:xfrm>
          <a:prstGeom prst="line">
            <a:avLst/>
          </a:prstGeom>
          <a:noFill/>
          <a:ln w="12700">
            <a:solidFill>
              <a:srgbClr val="A6A6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0" y="557784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THÁI NGUYÊN, THÁNG 10 NĂM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3444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THÔNG TIN ĐỀ TÀI VÀ NHÓM THỰC HIỆN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554480"/>
            <a:ext cx="1069848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9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Đề tài: </a:t>
            </a:r>
            <a:r>
              <a:rPr lang="en-US" sz="19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Xây dựng mô hình hệ thống IoT giám sát ngập lụt trong tầng hầm gửi xe</a:t>
            </a:r>
            <a:endParaRPr lang="en-US" sz="19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9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Giảng viên hướng dẫn: </a:t>
            </a:r>
            <a:r>
              <a:rPr lang="en-US" sz="19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……………………………………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2004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683C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NHÓM SINH VIÊN THỰC HIỆN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657600"/>
            <a:ext cx="5486400" cy="2560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Lưu Mạnh Kiên</a:t>
            </a:r>
            <a:endParaRPr lang="en-US" sz="19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900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Nông</a:t>
            </a:r>
            <a:r>
              <a:rPr lang="en-US" sz="19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Duy Huynh</a:t>
            </a:r>
            <a:endParaRPr lang="en-US" sz="19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Dương Hoàng Anh</a:t>
            </a:r>
            <a:endParaRPr lang="en-US" sz="19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Nguyễn Thanh Trường</a:t>
            </a:r>
            <a:endParaRPr lang="en-US" sz="19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Phạm Đức Thắng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28232"/>
            <a:ext cx="822960" cy="402336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3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3444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NỘI DUNG TRÌNH BÀY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97280" y="1645920"/>
            <a:ext cx="1005840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24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I: </a:t>
            </a:r>
            <a:r>
              <a:rPr lang="en-US" sz="24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Tổng quan và tính cấp thiết của đề tài</a:t>
            </a:r>
            <a:endParaRPr lang="en-US" sz="24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24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II: </a:t>
            </a:r>
            <a:r>
              <a:rPr lang="en-US" sz="24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Cơ sở lý thuyết và lựa chọn công nghệ</a:t>
            </a:r>
            <a:endParaRPr lang="en-US" sz="24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24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III: </a:t>
            </a:r>
            <a:r>
              <a:rPr lang="en-US" sz="24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Phân tích và thiết kế hệ thống</a:t>
            </a:r>
            <a:endParaRPr lang="en-US" sz="24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24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IV: </a:t>
            </a:r>
            <a:r>
              <a:rPr lang="en-US" sz="24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Hiện thực hóa và thử nghiệm mô hình</a:t>
            </a:r>
            <a:endParaRPr lang="en-US" sz="24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24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V: </a:t>
            </a:r>
            <a:r>
              <a:rPr lang="en-US" sz="24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Kết luận và hướng phát triển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28232"/>
            <a:ext cx="822960" cy="402336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3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3444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TỔNG QUAN VÀ TÍNH CẤP THIẾT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760720" cy="4754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Đô thị hóa nhanh kéo theo nhu cầu gửi xe tầng hầm tại Hà Nội, TP.HCM, Đà Nẵng, Thái Nguyên</a:t>
            </a:r>
            <a:endParaRPr lang="en-US" sz="17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Tầng hầm là điểm trũng nhất công trình, nước không thể tự thoát theo trọng lực</a:t>
            </a:r>
            <a:endParaRPr lang="en-US" sz="17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Mưa cực đoan làm cống quá tải; nước tràn qua ram dốc khi vượt gờ chắn 15 - 30 cm</a:t>
            </a:r>
            <a:endParaRPr lang="en-US" sz="17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Lưu lượng nước tràn vào có thể lên tới hàng trăm lít/giây, vượt công suất trạm bơm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720840" y="4439517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i="1" dirty="0" err="1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Hình</a:t>
            </a:r>
            <a:r>
              <a:rPr lang="en-US" sz="13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1.1: </a:t>
            </a:r>
            <a:r>
              <a:rPr lang="en-US" sz="1300" i="1" dirty="0" err="1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Hầm</a:t>
            </a:r>
            <a:r>
              <a:rPr lang="en-US" sz="13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300" i="1" dirty="0" err="1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gửi</a:t>
            </a:r>
            <a:r>
              <a:rPr lang="en-US" sz="13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300" i="1" dirty="0" err="1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xe</a:t>
            </a:r>
            <a:r>
              <a:rPr lang="en-US" sz="13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300" i="1" dirty="0" err="1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bị</a:t>
            </a:r>
            <a:r>
              <a:rPr lang="en-US" sz="13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300" i="1" dirty="0" err="1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ngập</a:t>
            </a:r>
            <a:r>
              <a:rPr lang="en-US" sz="13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300" i="1" dirty="0" err="1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nặng</a:t>
            </a:r>
            <a:r>
              <a:rPr lang="en-US" sz="13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300" i="1" dirty="0" err="1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nề</a:t>
            </a:r>
            <a:r>
              <a:rPr lang="en-US" sz="13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300" i="1" dirty="0" err="1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sau</a:t>
            </a:r>
            <a:r>
              <a:rPr lang="en-US" sz="13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300" i="1" dirty="0" err="1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trận</a:t>
            </a:r>
            <a:r>
              <a:rPr lang="en-US" sz="13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300" i="1" dirty="0" err="1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mưa</a:t>
            </a:r>
            <a:r>
              <a:rPr lang="en-US" sz="13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300" i="1" dirty="0" err="1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lớn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28232"/>
            <a:ext cx="822960" cy="402336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3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pic>
        <p:nvPicPr>
          <p:cNvPr id="7" name="Picture 6" descr="Giải cứu' hầm chung cư bị ngập trong nước - Báo Tiền Phong">
            <a:extLst>
              <a:ext uri="{FF2B5EF4-FFF2-40B4-BE49-F238E27FC236}">
                <a16:creationId xmlns:a16="http://schemas.microsoft.com/office/drawing/2014/main" id="{D3B55198-A248-A977-9D41-0A12FAB9CE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1267692"/>
            <a:ext cx="4762500" cy="31718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3444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THIỆT HẠI DO NGẬP ÚNG TẦNG HẦM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760720" cy="4754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Phương tiện: </a:t>
            </a: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thủy kích, chập cháy điện, hàng trăm xe máy và ô tô hư hỏng</a:t>
            </a:r>
            <a:endParaRPr lang="en-US" sz="16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Cơ điện: </a:t>
            </a: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máy phát điện dự phòng, trạm biến áp, tủ điện MSB/MDB, ATS</a:t>
            </a:r>
            <a:endParaRPr lang="en-US" sz="16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Bơm và thang máy: </a:t>
            </a: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bơm PCCC, bơm cấp nước, đáy giếng thang máy</a:t>
            </a:r>
            <a:endParaRPr lang="en-US" sz="16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ninh: </a:t>
            </a: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barrier, đầu đọc RFID, camera, máy chủ dữ liệu vé xe</a:t>
            </a:r>
            <a:endParaRPr lang="en-US" sz="16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Hậu quả: </a:t>
            </a: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tê liệt đồng bộ điện, nước, PCCC, thang máy và đe dọa an toàn con người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720840" y="4691444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 err="1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Hình</a:t>
            </a:r>
            <a:r>
              <a:rPr lang="en-US" sz="13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1.2: </a:t>
            </a:r>
            <a:r>
              <a:rPr lang="en-US" sz="1300" i="1" dirty="0" err="1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Hầm</a:t>
            </a:r>
            <a:r>
              <a:rPr lang="en-US" sz="13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300" i="1" dirty="0" err="1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gửi</a:t>
            </a:r>
            <a:r>
              <a:rPr lang="en-US" sz="13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300" i="1" dirty="0" err="1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xe</a:t>
            </a:r>
            <a:r>
              <a:rPr lang="en-US" sz="13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300" i="1" dirty="0" err="1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bị</a:t>
            </a:r>
            <a:r>
              <a:rPr lang="en-US" sz="13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300" i="1" dirty="0" err="1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ngập</a:t>
            </a:r>
            <a:r>
              <a:rPr lang="en-US" sz="13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300" i="1" dirty="0" err="1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nặng</a:t>
            </a:r>
            <a:r>
              <a:rPr lang="en-US" sz="13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300" i="1" dirty="0" err="1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nề</a:t>
            </a:r>
            <a:r>
              <a:rPr lang="en-US" sz="13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300" i="1" dirty="0" err="1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sau</a:t>
            </a:r>
            <a:r>
              <a:rPr lang="en-US" sz="13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trận mưa lớn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28232"/>
            <a:ext cx="822960" cy="402336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3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pic>
        <p:nvPicPr>
          <p:cNvPr id="6" name="Picture 5" descr="Giải cứu' hầm chung cư bị ngập trong nước - Báo Tiền Phong">
            <a:extLst>
              <a:ext uri="{FF2B5EF4-FFF2-40B4-BE49-F238E27FC236}">
                <a16:creationId xmlns:a16="http://schemas.microsoft.com/office/drawing/2014/main" id="{21C04292-C7C0-589C-D961-4151000680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0" y="1519619"/>
            <a:ext cx="4762500" cy="31718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3444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HẠN CHẾ CỦA GIẢI PHÁP TRUYỀN THỐNG VÀ MỤC TIÊU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Thoát nước dựa vào phao cơ và tuần tra thủ công của bảo vệ</a:t>
            </a:r>
            <a:endParaRPr lang="en-US" sz="22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Sàn hầm khô có thể thành hồ chứa chỉ sau 15 - 30 phút, nhanh hơn chu kỳ tuần tra</a:t>
            </a:r>
            <a:endParaRPr lang="en-US" sz="22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Khi mưa bão, nhân sự bị phân tán, cư dân không được cảnh báo sớm</a:t>
            </a:r>
            <a:endParaRPr lang="en-US" sz="22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22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Mục tiêu: </a:t>
            </a: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mô hình IoT chi phí thấp, đo mực nước thời gian thực, cảnh báo tại chỗ và từ xa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28232"/>
            <a:ext cx="822960" cy="402336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3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3444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TỔNG QUAN VỀ INTERNET VẠN VẬT (IOT)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85800" y="1554480"/>
            <a:ext cx="2377440" cy="1005840"/>
          </a:xfrm>
          <a:prstGeom prst="roundRect">
            <a:avLst>
              <a:gd name="adj" fmla="val 9091"/>
            </a:avLst>
          </a:prstGeom>
          <a:solidFill>
            <a:srgbClr val="EAF3FA"/>
          </a:solidFill>
          <a:ln w="15875">
            <a:solidFill>
              <a:srgbClr val="2683C6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Thiết bị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cảm biến, vi điều khiển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063240" y="2057400"/>
            <a:ext cx="502920" cy="0"/>
          </a:xfrm>
          <a:prstGeom prst="line">
            <a:avLst/>
          </a:prstGeom>
          <a:noFill/>
          <a:ln w="22225">
            <a:solidFill>
              <a:srgbClr val="1F4E7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566160" y="1554480"/>
            <a:ext cx="2377440" cy="1005840"/>
          </a:xfrm>
          <a:prstGeom prst="roundRect">
            <a:avLst>
              <a:gd name="adj" fmla="val 9091"/>
            </a:avLst>
          </a:prstGeom>
          <a:solidFill>
            <a:srgbClr val="EAF3FA"/>
          </a:solidFill>
          <a:ln w="15875">
            <a:solidFill>
              <a:srgbClr val="2683C6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Kết nối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Wi-Fi, MQTT, HTTPS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943600" y="2057400"/>
            <a:ext cx="502920" cy="0"/>
          </a:xfrm>
          <a:prstGeom prst="line">
            <a:avLst/>
          </a:prstGeom>
          <a:noFill/>
          <a:ln w="22225">
            <a:solidFill>
              <a:srgbClr val="1F4E7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46520" y="1554480"/>
            <a:ext cx="2377440" cy="1005840"/>
          </a:xfrm>
          <a:prstGeom prst="roundRect">
            <a:avLst>
              <a:gd name="adj" fmla="val 9091"/>
            </a:avLst>
          </a:prstGeom>
          <a:solidFill>
            <a:srgbClr val="EAF3FA"/>
          </a:solidFill>
          <a:ln w="15875">
            <a:solidFill>
              <a:srgbClr val="2683C6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Nền tảng đám mây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xử lý, lưu trữ, cảnh báo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823960" y="2057400"/>
            <a:ext cx="502920" cy="0"/>
          </a:xfrm>
          <a:prstGeom prst="line">
            <a:avLst/>
          </a:prstGeom>
          <a:noFill/>
          <a:ln w="22225">
            <a:solidFill>
              <a:srgbClr val="1F4E7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326880" y="1554480"/>
            <a:ext cx="2377440" cy="1005840"/>
          </a:xfrm>
          <a:prstGeom prst="roundRect">
            <a:avLst>
              <a:gd name="adj" fmla="val 9091"/>
            </a:avLst>
          </a:prstGeom>
          <a:solidFill>
            <a:srgbClr val="EAF3FA"/>
          </a:solidFill>
          <a:ln w="15875">
            <a:solidFill>
              <a:srgbClr val="2683C6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Ứng dụng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web giám sát, tin nhắn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017520"/>
            <a:ext cx="108813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IoT: </a:t>
            </a:r>
            <a:r>
              <a:rPr lang="en-US" sz="18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mạng lưới thiết bị có cảm biến và khả năng kết nối, thu thập và trao đổi dữ liệu qua Internet</a:t>
            </a:r>
            <a:endParaRPr lang="en-US" sz="18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Điện toán biên: </a:t>
            </a:r>
            <a:r>
              <a:rPr lang="en-US" sz="18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xử lý ngay trên thiết bị để phản ứng tức thời, không chờ máy chủ</a:t>
            </a:r>
            <a:endParaRPr lang="en-US" sz="18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Ứng dụng: </a:t>
            </a:r>
            <a:r>
              <a:rPr lang="en-US" sz="18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giám sát môi trường, hạ tầng đô thị, cảnh báo thiên tai</a:t>
            </a:r>
            <a:endParaRPr lang="en-US" sz="18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Trong đề tài: </a:t>
            </a:r>
            <a:r>
              <a:rPr lang="en-US" sz="18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ESP32 và HC-SR04 đo mực nước, đẩy dữ liệu và cảnh báo qua đám mây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28232"/>
            <a:ext cx="822960" cy="402336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3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3444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KIẾN TRÚC IOT BA LỚP CỦA HỆ THỐNG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39" y="1463040"/>
            <a:ext cx="11105295" cy="4754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Lớp cảm biến và xử lý tại chỗ: </a:t>
            </a:r>
            <a:r>
              <a:rPr lang="en-US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ESP32 lọc nhiễu, tính tốc độ dâng, tự kích hoạt còi và đèn (điện toán biên)</a:t>
            </a:r>
            <a:endParaRPr lang="en-US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Lớp mạng: </a:t>
            </a:r>
            <a:r>
              <a:rPr lang="en-US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Wi-Fi nội bộ tòa nhà, MQTT qua TLS cổng 8883</a:t>
            </a:r>
            <a:endParaRPr lang="en-US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Lớp đám mây Serverless: </a:t>
            </a:r>
            <a:r>
              <a:rPr lang="en-US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Cloudflare Worker xử lý cảnh báo, ghi log, ngưỡng, OTA</a:t>
            </a:r>
            <a:endParaRPr lang="en-US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Điểm khác biệt: </a:t>
            </a:r>
            <a:r>
              <a:rPr lang="en-US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phép tính an toàn thực hiện tại chỗ, không phụ thuộc mạng</a:t>
            </a:r>
            <a:endParaRPr lang="en-US" dirty="0"/>
          </a:p>
        </p:txBody>
      </p:sp>
      <p:sp>
        <p:nvSpPr>
          <p:cNvPr id="5" name="Text 3"/>
          <p:cNvSpPr txBox="1"/>
          <p:nvPr/>
        </p:nvSpPr>
        <p:spPr>
          <a:xfrm>
            <a:off x="4436549" y="5815583"/>
            <a:ext cx="331889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 err="1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Hình</a:t>
            </a:r>
            <a:r>
              <a:rPr lang="en-US" sz="13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2.1: Sơ đồ khối kiến trúc IoT ba lớp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28232"/>
            <a:ext cx="822960" cy="402336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3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17D79F-636D-3E3F-BD83-E25F319C7ED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480" y="3578832"/>
            <a:ext cx="8397036" cy="18161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3444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KHẢO SÁT VÀ LỰA CHỌN CÔNG NGHỆ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3550602"/>
              </p:ext>
            </p:extLst>
          </p:nvPr>
        </p:nvGraphicFramePr>
        <p:xfrm>
          <a:off x="548640" y="1554480"/>
          <a:ext cx="11064240" cy="2584704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17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Thành phần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83C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Lựa chọn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83C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Lý do chính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83C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Vi điều khiển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ESP32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Wi-Fi tích hợp, hai nhân xử lý, đủ flash cho firmware kép (OTA), giá rẻ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Cảm biến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HC-SR04 (siêu âm)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Đo không tiếp xúc nước, đo liên tục, chi phí thấp, lắp đặt đơn giản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Đám mây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Cloudflare Worker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Gói miễn phí, tự viết logic xử lý, độ trễ thấp, tích hợp cơ sở </a:t>
                      </a:r>
                      <a:r>
                        <a:rPr lang="en-US" sz="1600" dirty="0" err="1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dữ</a:t>
                      </a: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 </a:t>
                      </a:r>
                      <a:r>
                        <a:rPr lang="en-US" sz="1600" dirty="0" err="1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liệu</a:t>
                      </a: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 D1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Truyền realtime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MQTT + HiveMQ Cloud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Gói miễn phí, bảo mật TLS, không cần tự dựng máy chủ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Kênh thông báo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Telegram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API công khai miễn phí, không cần đăng ký doanh nghiệp, gửi được cho nhóm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28232"/>
            <a:ext cx="822960" cy="402336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3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3444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CLOUDFLARE WORKER VÀ ĐIỆN TOÁN KHÔNG MÁY CHỦ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247120" cy="4754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22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Serverless: </a:t>
            </a: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mã chạy trên mạng lưới toàn cầu của Cloudflare, không cần thuê hay quản trị máy chủ</a:t>
            </a:r>
            <a:endParaRPr lang="en-US" sz="22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22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Worker: </a:t>
            </a:r>
            <a:r>
              <a:rPr lang="en-US" sz="2200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Cảnh</a:t>
            </a: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2200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báo</a:t>
            </a: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2200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tới</a:t>
            </a: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Telegram, </a:t>
            </a:r>
            <a:r>
              <a:rPr lang="en-US" sz="2200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ghi</a:t>
            </a: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2200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nhật</a:t>
            </a: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2200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kí</a:t>
            </a: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r>
              <a:rPr lang="en-US" sz="2200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điều</a:t>
            </a: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2200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chỉnh</a:t>
            </a: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2200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ngưỡng</a:t>
            </a: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2200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mực</a:t>
            </a: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2200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nước</a:t>
            </a: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OTA </a:t>
            </a:r>
            <a:r>
              <a:rPr lang="en-US" sz="2200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và</a:t>
            </a: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2200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kiểm</a:t>
            </a: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2200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</a:t>
            </a: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OTA</a:t>
            </a:r>
            <a:endParaRPr lang="en-US" sz="22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22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Cơ sở dữ liệu D1: </a:t>
            </a: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lưu lịch sử đo; trang web được host trên Cloudflare</a:t>
            </a:r>
            <a:endParaRPr lang="en-US" sz="22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22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Xác thực: </a:t>
            </a: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thiết bị gửi kèm khóa X-Device-Key trong mỗi yêu cầu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28232"/>
            <a:ext cx="822960" cy="402336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3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3444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GIAO THỨC MQTT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760720" cy="4754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Publish/Subscribe: </a:t>
            </a:r>
            <a:r>
              <a:rPr lang="en-US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thiết bị và web giao tiếp qua broker trung gian, kết nối giữ liên tục, gói tin nhỏ</a:t>
            </a:r>
            <a:endParaRPr lang="en-US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Dữ liệu đo: </a:t>
            </a:r>
            <a:r>
              <a:rPr lang="en-US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ESP32 publish JSON </a:t>
            </a:r>
            <a:r>
              <a:rPr lang="en-US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gồm</a:t>
            </a:r>
            <a:r>
              <a:rPr lang="en-US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khoảng</a:t>
            </a:r>
            <a:r>
              <a:rPr lang="en-US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cách</a:t>
            </a:r>
            <a:r>
              <a:rPr lang="en-US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r>
              <a:rPr lang="en-US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khoảng</a:t>
            </a:r>
            <a:r>
              <a:rPr lang="en-US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cách</a:t>
            </a:r>
            <a:r>
              <a:rPr lang="en-US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trung</a:t>
            </a:r>
            <a:r>
              <a:rPr lang="en-US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bình</a:t>
            </a:r>
            <a:r>
              <a:rPr lang="en-US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r>
              <a:rPr lang="en-US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tốc</a:t>
            </a:r>
            <a:r>
              <a:rPr lang="en-US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độ</a:t>
            </a:r>
            <a:r>
              <a:rPr lang="en-US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r>
              <a:rPr lang="en-US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mực</a:t>
            </a:r>
            <a:r>
              <a:rPr lang="en-US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nước</a:t>
            </a:r>
            <a:r>
              <a:rPr lang="en-US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</a:t>
            </a:r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Bảo mật: </a:t>
            </a:r>
            <a:r>
              <a:rPr lang="en-US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TLS cổng 8883, xác thực bằng tên đăng nhập và mật khẩu</a:t>
            </a:r>
            <a:endParaRPr lang="en-US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 phụ: </a:t>
            </a:r>
            <a:r>
              <a:rPr lang="en-US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Tiến </a:t>
            </a:r>
            <a:r>
              <a:rPr lang="en-US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trình</a:t>
            </a:r>
            <a:r>
              <a:rPr lang="en-US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cập</a:t>
            </a:r>
            <a:r>
              <a:rPr lang="en-US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nhật</a:t>
            </a:r>
            <a:r>
              <a:rPr lang="en-US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OTA </a:t>
            </a:r>
            <a:r>
              <a:rPr lang="en-US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và</a:t>
            </a:r>
            <a:r>
              <a:rPr lang="en-US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log </a:t>
            </a:r>
            <a:r>
              <a:rPr lang="en-US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trong</a:t>
            </a:r>
            <a:r>
              <a:rPr lang="en-US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lúc</a:t>
            </a:r>
            <a:r>
              <a:rPr lang="en-US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đang</a:t>
            </a:r>
            <a:r>
              <a:rPr lang="en-US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cập</a:t>
            </a:r>
            <a:r>
              <a:rPr lang="en-US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nhật</a:t>
            </a:r>
            <a:r>
              <a:rPr lang="en-US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phần</a:t>
            </a:r>
            <a:r>
              <a:rPr lang="en-US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mềm</a:t>
            </a:r>
            <a:endParaRPr lang="en-US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Tự </a:t>
            </a:r>
            <a:r>
              <a:rPr lang="en-US" b="1" dirty="0" err="1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phục</a:t>
            </a:r>
            <a:r>
              <a:rPr lang="en-US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b="1" dirty="0" err="1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hồi</a:t>
            </a:r>
            <a:r>
              <a:rPr lang="en-US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r>
              <a:rPr lang="en-US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Giữ</a:t>
            </a:r>
            <a:r>
              <a:rPr lang="en-US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kết</a:t>
            </a:r>
            <a:r>
              <a:rPr lang="en-US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nối</a:t>
            </a:r>
            <a:r>
              <a:rPr lang="en-US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trong</a:t>
            </a:r>
            <a:r>
              <a:rPr lang="en-US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30 giây, tự kết nối lại sau 5 giây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537960" y="1737360"/>
            <a:ext cx="137160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5875">
            <a:solidFill>
              <a:srgbClr val="2683C6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ESP32</a:t>
            </a:r>
            <a:endParaRPr lang="en-US" sz="13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Publisher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909560" y="2171700"/>
            <a:ext cx="548640" cy="0"/>
          </a:xfrm>
          <a:prstGeom prst="line">
            <a:avLst/>
          </a:prstGeom>
          <a:noFill/>
          <a:ln w="22225">
            <a:solidFill>
              <a:srgbClr val="1F4E7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458200" y="1737360"/>
            <a:ext cx="137160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5875">
            <a:solidFill>
              <a:srgbClr val="2683C6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Broker</a:t>
            </a:r>
            <a:endParaRPr lang="en-US" sz="13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HiveMQ Cloud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829800" y="2171700"/>
            <a:ext cx="548640" cy="0"/>
          </a:xfrm>
          <a:prstGeom prst="line">
            <a:avLst/>
          </a:prstGeom>
          <a:noFill/>
          <a:ln w="22225">
            <a:solidFill>
              <a:srgbClr val="1F4E7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378440" y="1737360"/>
            <a:ext cx="137160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5875">
            <a:solidFill>
              <a:srgbClr val="2683C6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Web</a:t>
            </a:r>
            <a:endParaRPr lang="en-US" sz="13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Subscriber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37960" y="3063240"/>
            <a:ext cx="5212080" cy="548640"/>
          </a:xfrm>
          <a:prstGeom prst="roundRect">
            <a:avLst>
              <a:gd name="adj" fmla="val 16667"/>
            </a:avLst>
          </a:prstGeom>
          <a:solidFill>
            <a:srgbClr val="FDF2D0"/>
          </a:solidFill>
          <a:ln w="15875">
            <a:solidFill>
              <a:srgbClr val="2683C6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Kết nối mã hóa TLS, cổng 8883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37960" y="3931920"/>
            <a:ext cx="5212080" cy="1005840"/>
          </a:xfrm>
          <a:prstGeom prst="roundRect">
            <a:avLst>
              <a:gd name="adj" fmla="val 9091"/>
            </a:avLst>
          </a:prstGeom>
          <a:solidFill>
            <a:srgbClr val="EAF3FA"/>
          </a:solidFill>
          <a:ln w="15875">
            <a:solidFill>
              <a:srgbClr val="2683C6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Broker </a:t>
            </a:r>
            <a:r>
              <a:rPr lang="en-US" sz="1400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báo</a:t>
            </a:r>
            <a:r>
              <a:rPr lang="en-US" sz="14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“offline” khi ESP32 mất kết nối, thiết bị </a:t>
            </a:r>
            <a:r>
              <a:rPr lang="en-US" sz="1400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báo</a:t>
            </a:r>
            <a:r>
              <a:rPr lang="en-US" sz="14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“online” khi kết nối lại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28232"/>
            <a:ext cx="822960" cy="402336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3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3444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HIVEMQ CLOUD - MQTT BROKER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247120" cy="4754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22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HiveMQ Cloud: </a:t>
            </a: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MQTT broker dạng dịch vụ đám mây, có gói miễn phí và TLS sẵn</a:t>
            </a:r>
            <a:endParaRPr lang="en-US" sz="22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22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Hai phía kết nối: </a:t>
            </a: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ESP32 publish, trình duyệt web subscribe</a:t>
            </a:r>
            <a:endParaRPr lang="en-US" sz="22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22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Dữ liệu qua broker: </a:t>
            </a: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số đo thời gian thực, nhật ký thiết bị, tiến trình OTA, trạng thái online/offline</a:t>
            </a:r>
            <a:endParaRPr lang="en-US" sz="22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22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Lý do chọn: </a:t>
            </a: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không cần tự dựng và duy </a:t>
            </a:r>
            <a:r>
              <a:rPr lang="en-US" sz="2200" dirty="0" err="1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trì</a:t>
            </a: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broker, tránh chi phí thuê máy chủ hàng tháng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28232"/>
            <a:ext cx="822960" cy="402336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3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3444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PHÂN TÍCH YÊU CẦU HỆ THỐNG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683C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YÊU CẦU CHỨC NĂNG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5486400" cy="4297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CN01: Đo mực nước liên tục</a:t>
            </a:r>
            <a:endParaRPr lang="en-US" sz="16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CN02: Tính tốc độ biến thiên mực nước</a:t>
            </a:r>
            <a:endParaRPr lang="en-US" sz="16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CN03: Cảnh báo tại chỗ khi nguy hiểm</a:t>
            </a:r>
            <a:endParaRPr lang="en-US" sz="16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CN04: Gửi cảnh báo từ xa qua tin nhắn</a:t>
            </a:r>
            <a:endParaRPr lang="en-US" sz="16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CN05: Giao diện giám sát trực quan</a:t>
            </a:r>
            <a:endParaRPr lang="en-US" sz="16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CN06: Cấu hình ngưỡng từ xa</a:t>
            </a:r>
            <a:endParaRPr lang="en-US" sz="16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CN07: Cập nhật firmware từ xa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683C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YÊU CẦU PHI CHỨC NĂNG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1920240"/>
            <a:ext cx="5303520" cy="4297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PCN01: Độ trễ cảnh báo tại chỗ thấp</a:t>
            </a:r>
            <a:endParaRPr lang="en-US" sz="16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PCN02: Chịu lỗi khi mất mạng</a:t>
            </a:r>
            <a:endParaRPr lang="en-US" sz="16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PCN03: Độ trễ cảnh báo từ xa thấp</a:t>
            </a:r>
            <a:endParaRPr lang="en-US" sz="16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PCN04: Dễ mở rộng nhiều thiết bị</a:t>
            </a:r>
            <a:endParaRPr lang="en-US" sz="16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PCN05: Chi phí triển khai thấp</a:t>
            </a:r>
            <a:endParaRPr lang="en-US" sz="16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PCN06: Bảo trì, vận hành liên tục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28232"/>
            <a:ext cx="822960" cy="402336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3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D2F8747-A883-AF33-8FC0-5AF5729A5C7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9363" y="1397765"/>
            <a:ext cx="6724089" cy="406247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 0"/>
          <p:cNvSpPr txBox="1"/>
          <p:nvPr/>
        </p:nvSpPr>
        <p:spPr>
          <a:xfrm>
            <a:off x="123444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THIẾT KẾ PHẦN CỨNG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4648511" cy="4754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ESP32: </a:t>
            </a:r>
            <a:r>
              <a:rPr lang="en-US" sz="17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 điều khiển trung tâm</a:t>
            </a:r>
            <a:endParaRPr lang="en-US" sz="17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HC-SR04: </a:t>
            </a:r>
            <a:r>
              <a:rPr lang="en-US" sz="17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cảm biến siêu âm, chân nhận phản hồi GPIO 18</a:t>
            </a:r>
            <a:endParaRPr lang="en-US" sz="17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LCD 16x2 (I2C): </a:t>
            </a:r>
            <a:r>
              <a:rPr lang="en-US" sz="17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hiển thị trạng thái tại chỗ</a:t>
            </a:r>
            <a:endParaRPr lang="en-US" sz="17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 đèn LED: </a:t>
            </a:r>
            <a:r>
              <a:rPr lang="en-US" sz="17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xanh, vàng, đỏ tại GPIO 25, 26, 27</a:t>
            </a:r>
            <a:endParaRPr lang="en-US" sz="17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Còi báo động: </a:t>
            </a:r>
            <a:r>
              <a:rPr lang="en-US" sz="17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GPIO 19; LED Wi-Fi GPIO 2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16945" y="5745791"/>
            <a:ext cx="3646403" cy="472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 err="1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Hình</a:t>
            </a:r>
            <a:r>
              <a:rPr lang="en-US" sz="13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3.1: Sơ đồ khối chức năng phần cứng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28232"/>
            <a:ext cx="822960" cy="402336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3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3444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XỬ LÝ TẠI CHỖ TRÊN ESP32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0909352" cy="4754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Hai luồng song song: </a:t>
            </a:r>
            <a:r>
              <a:rPr lang="en-US" sz="20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một nhân đo và cảnh báo, một nhân lo mạng; mất mạng không ảnh hưởng cảnh báo</a:t>
            </a:r>
            <a:endParaRPr lang="en-US" sz="20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Giám sát treo: </a:t>
            </a:r>
            <a:r>
              <a:rPr lang="en-US" sz="20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cơ chế watchdog tự khởi động lại khi hệ thống treo</a:t>
            </a:r>
            <a:endParaRPr lang="en-US" sz="20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Đo và lọc nhiễu: </a:t>
            </a:r>
            <a:r>
              <a:rPr lang="en-US" sz="20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đo mỗi giây, lọc bằng trung bình trượt</a:t>
            </a:r>
            <a:endParaRPr lang="en-US" sz="20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Tốc độ dâng: </a:t>
            </a:r>
            <a:r>
              <a:rPr lang="en-US" sz="20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tính mỗi 5 giây (cm/phút), ước lượng thời gian còn lại đến ngưỡng nguy hiểm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28232"/>
            <a:ext cx="822960" cy="402336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3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3444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PHÂN LOẠI BỐN MỨC CẢNH BÁO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202692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Mức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83C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Khoảng cách từ cảm biến đến mặt nước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83C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Đầu ra tại chỗ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83C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An toàn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Lớn hơn 100 cm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Đèn xanh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Phát hiện nước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40 - 100 cm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Đèn vàng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Trung bình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15 - 40 cm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Đèn vàng, LCD báo nước dâng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Nguy hiểm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Nhỏ hơn hoặc bằng 15 cm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Đèn đỏ và còi báo động</a:t>
                      </a:r>
                      <a:endParaRPr lang="en-US" sz="17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480560"/>
            <a:ext cx="1106424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 ngưỡng cấu hình từ xa; giá trị trên là cấu hình của mô hình thử nghiệm</a:t>
            </a:r>
            <a:endParaRPr lang="en-US" sz="17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Mỗi lần đổi mức, hệ thống gửi một tin Telegram, không gửi trùng khi mức đứng yên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28232"/>
            <a:ext cx="822960" cy="402336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3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918C6DE-57E1-9DF9-3FF1-944C3F73F0D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0236" y="1255049"/>
            <a:ext cx="4955524" cy="50804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 0"/>
          <p:cNvSpPr txBox="1"/>
          <p:nvPr/>
        </p:nvSpPr>
        <p:spPr>
          <a:xfrm>
            <a:off x="123444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LỚP MẠNG, ĐÁM MÂY VÀ CÁC LUỒNG DỮ LIỆU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760720" cy="4754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Năm luồng độc lập: </a:t>
            </a: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MQTT realtime, cảnh báo Telegram, ghi log D1, lấy ngưỡng động, cập nhật OTA</a:t>
            </a:r>
            <a:endParaRPr lang="en-US" sz="16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Ghi log có điều kiện: </a:t>
            </a: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khi đổi từ 3 cm, đổi mức hoặc theo chu kỳ</a:t>
            </a:r>
            <a:endParaRPr lang="en-US" sz="16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Ngưỡng động: </a:t>
            </a: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thiết bị lấy cấu hình mới mỗi 30 giây</a:t>
            </a:r>
            <a:endParaRPr lang="en-US" sz="16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Tự bảo vệ: </a:t>
            </a: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mỗi luồng kiểm tra kết nối trước khi gửi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038081" y="6031308"/>
            <a:ext cx="4846320" cy="3041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 err="1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Hình</a:t>
            </a:r>
            <a:r>
              <a:rPr lang="en-US" sz="13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3.3: Luồng gửi cảnh báo khẩn cấp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28232"/>
            <a:ext cx="822960" cy="402336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3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3444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GIAO DIỆN WEB GIÁM SÁT VÀ QUẢN TRỊ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525172" cy="4754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Giám sát: </a:t>
            </a:r>
            <a:r>
              <a:rPr lang="en-US" sz="17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trạng thái kết nối, khoảng cách hiện tại, xu hướng và tốc độ dâng</a:t>
            </a:r>
            <a:endParaRPr lang="en-US" sz="17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Trực quan: </a:t>
            </a:r>
            <a:r>
              <a:rPr lang="en-US" sz="17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bể nước mô phỏng, biểu đồ dữ liệu thô và đã lọc, bảng lịch sử</a:t>
            </a:r>
            <a:endParaRPr lang="en-US" sz="17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Quản trị: </a:t>
            </a:r>
            <a:r>
              <a:rPr lang="en-US" sz="17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cấu hình ngưỡng, xuất dữ liệu, quản lý firmware, đổi Wi-Fi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85789" y="5682610"/>
            <a:ext cx="4279952" cy="466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 err="1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Hình</a:t>
            </a:r>
            <a:r>
              <a:rPr lang="en-US" sz="13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3.2: Giao diện Web giám sát thời gian thực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463089" y="5634791"/>
            <a:ext cx="4126929" cy="5621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 err="1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Hình</a:t>
            </a:r>
            <a:r>
              <a:rPr lang="en-US" sz="13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3.6: Giao diện Web cài đặt và quản lý dữ liệu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28232"/>
            <a:ext cx="822960" cy="402336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3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54CDA43-5AAC-5BCD-CB31-8660911E30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60" y="2903724"/>
            <a:ext cx="5977811" cy="271010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138FDCC-8289-BA55-E0A7-FE02844115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8658" y="2903724"/>
            <a:ext cx="5896482" cy="271010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3444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CÔNG NGHỆ VÀ LUỒNG DỮ LIỆU CỦA WEB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3108960" cy="1645920"/>
          </a:xfrm>
          <a:prstGeom prst="roundRect">
            <a:avLst>
              <a:gd name="adj" fmla="val 5556"/>
            </a:avLst>
          </a:prstGeom>
          <a:solidFill>
            <a:srgbClr val="EAF3FA"/>
          </a:solidFill>
          <a:ln w="15875">
            <a:solidFill>
              <a:srgbClr val="2683C6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Trình duyệt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Web trên Cloudflare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138160" y="1463040"/>
            <a:ext cx="3291840" cy="731520"/>
          </a:xfrm>
          <a:prstGeom prst="roundRect">
            <a:avLst>
              <a:gd name="adj" fmla="val 12500"/>
            </a:avLst>
          </a:prstGeom>
          <a:solidFill>
            <a:srgbClr val="EAF3FA"/>
          </a:solidFill>
          <a:ln w="15875">
            <a:solidFill>
              <a:srgbClr val="2683C6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HiveMQ Cloud</a:t>
            </a:r>
            <a:endParaRPr lang="en-US" sz="13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dữ liệu thời gian thực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138160" y="2377440"/>
            <a:ext cx="3291840" cy="731520"/>
          </a:xfrm>
          <a:prstGeom prst="roundRect">
            <a:avLst>
              <a:gd name="adj" fmla="val 12500"/>
            </a:avLst>
          </a:prstGeom>
          <a:solidFill>
            <a:srgbClr val="EAF3FA"/>
          </a:solidFill>
          <a:ln w="15875">
            <a:solidFill>
              <a:srgbClr val="2683C6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Cloudflare Worker</a:t>
            </a:r>
            <a:endParaRPr lang="en-US" sz="13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ngưỡng, log D1, firmware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840480" y="1828800"/>
            <a:ext cx="4297680" cy="0"/>
          </a:xfrm>
          <a:prstGeom prst="line">
            <a:avLst/>
          </a:prstGeom>
          <a:noFill/>
          <a:ln w="22225">
            <a:solidFill>
              <a:srgbClr val="1F4E79"/>
            </a:solidFill>
            <a:prstDash val="solid"/>
            <a:head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840480" y="2743200"/>
            <a:ext cx="4297680" cy="0"/>
          </a:xfrm>
          <a:prstGeom prst="line">
            <a:avLst/>
          </a:prstGeom>
          <a:noFill/>
          <a:ln w="22225">
            <a:solidFill>
              <a:srgbClr val="1F4E79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3931920" y="15087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Subscribe MQTT nhận số đo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931920" y="24231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HTTPS đọc, ghi cấu hình và dữ liệu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566160"/>
            <a:ext cx="10881360" cy="2651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Trang giám sát: </a:t>
            </a:r>
            <a:r>
              <a:rPr lang="en-US" sz="17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khoảng cách, xu hướng, bể nước mô phỏng, hai biểu đồ, bảng lịch sử lưu trong trình duyệt</a:t>
            </a:r>
            <a:endParaRPr lang="en-US" sz="17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Trang cài đặt: </a:t>
            </a:r>
            <a:r>
              <a:rPr lang="en-US" sz="17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nhập địa chỉ Worker và khóa thiết bị, đặt ba ngưỡng, xuất dữ liệu, quản lý firmware, đổi Wi-Fi</a:t>
            </a:r>
            <a:endParaRPr lang="en-US" sz="17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Hạn chế: </a:t>
            </a:r>
            <a:r>
              <a:rPr lang="en-US" sz="17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chưa bảo mật truy cập, dự kiến dùng Cloudflare Access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28232"/>
            <a:ext cx="822960" cy="402336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3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3444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CẬP NHẬT FIRMWARE OTA VÀ ĐỘ TIN CẬY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6085425" cy="4754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OTA: </a:t>
            </a: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kiểm tra phiên bản, tải vào phân vùng dự phòng, kiểm tra toàn vẹn</a:t>
            </a:r>
            <a:endParaRPr lang="en-US" sz="16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Khởi động thử: </a:t>
            </a: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xác nhận khi có Wi-Fi, check-in thành công và đọc được cảm biến</a:t>
            </a:r>
            <a:endParaRPr lang="en-US" sz="16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Tự khôi phục: </a:t>
            </a: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quay về bản cũ nếu bản mới treo hoặc không xác nhận kịp</a:t>
            </a:r>
            <a:endParaRPr lang="en-US" sz="16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Mất điện diện rộng: </a:t>
            </a: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thiết bị chạy máy phát, Wi-Fi và Cloudflare là ba mắt xích độc lập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091265" y="5930538"/>
            <a:ext cx="4846320" cy="556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 err="1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Hình</a:t>
            </a:r>
            <a:r>
              <a:rPr lang="en-US" sz="13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3.5: Sơ đồ kiểm tra và cập nhật firmware từ xa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28232"/>
            <a:ext cx="822960" cy="402336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3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834CA9-78A5-010F-F583-A97FE65F31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1265" y="1227732"/>
            <a:ext cx="4552095" cy="47662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3444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IV. HIỆN THỰC HÓA MÔ HÌNH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643360" cy="4754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Mô phỏng Wokwi: </a:t>
            </a: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kiểm tra gán chân và logic bốn mức trước khi đấu mạch thật</a:t>
            </a:r>
            <a:endParaRPr lang="en-US" sz="16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Lập trình: </a:t>
            </a: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C++ (Arduino framework) trên VS Code và PlatformIO</a:t>
            </a:r>
            <a:endParaRPr lang="en-US" sz="16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Nạp firmware: </a:t>
            </a: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lần đầu qua USB, sau đó cập nhật OTA</a:t>
            </a:r>
            <a:endParaRPr lang="en-US" sz="16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Mô hình thử nghiệm: </a:t>
            </a: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tầng hầm thu nhỏ, đổ nước thật thủ công theo từng mức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86467" y="5906278"/>
            <a:ext cx="4846320" cy="427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 err="1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Hình</a:t>
            </a:r>
            <a:r>
              <a:rPr lang="en-US" sz="13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4.9: Sơ đồ mạch mô phỏng trên Wokwi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59213" y="5906277"/>
            <a:ext cx="4846320" cy="4273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 err="1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Hình</a:t>
            </a:r>
            <a:r>
              <a:rPr lang="en-US" sz="13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4.11: Mô hình thử nghiệm hoàn chỉnh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28232"/>
            <a:ext cx="822960" cy="402336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3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98484BE-1C84-8FD4-59F6-C1954C75B4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4440" y="2917970"/>
            <a:ext cx="4150373" cy="2988308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6C629A7-34E6-DE2B-697A-6E8C26469B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7187" y="2823359"/>
            <a:ext cx="4139272" cy="30862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3444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IV. KẾT QUẢ ĐO VÀ PHẢN HỒI TẠI CHỖ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760720" cy="195072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Thực tế (cm)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83C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Cảm biến đọc (cm)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83C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Sai số (cm)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83C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30,6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0,6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50,4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0,4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80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80,7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120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121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1,0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297680"/>
            <a:ext cx="57607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Sai số tuyệt đối 0,2 - 1 cm, trung bình khoảng 0,6 cm</a:t>
            </a:r>
            <a:endParaRPr lang="en-US" sz="16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Đèn, còi và LCD phản hồi đúng bốn mức cảnh báo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789410" y="601675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 err="1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Hình</a:t>
            </a:r>
            <a:r>
              <a:rPr lang="en-US" sz="13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4.14: Mạch thực tế ở các mức cảnh báo (đèn, LCD)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28232"/>
            <a:ext cx="822960" cy="402336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3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65F077A-2E1E-3C2A-DC22-AAAE536996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380" y="1295181"/>
            <a:ext cx="5166380" cy="4807039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3444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IV. KẾT QUẢ LỚP MẠNG VÀ ĐÁM MÂY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39" y="1463040"/>
            <a:ext cx="9836331" cy="4754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Telegram: </a:t>
            </a:r>
            <a:r>
              <a:rPr lang="en-US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độ trễ 3 - 6 giây (5 lần thử), không gửi trùng</a:t>
            </a:r>
            <a:endParaRPr lang="en-US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Log và ngưỡng động: </a:t>
            </a:r>
            <a:r>
              <a:rPr lang="en-US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ghi đúng điều kiện; ngưỡng nhập trên web được thiết bị áp dụng</a:t>
            </a:r>
            <a:endParaRPr lang="en-US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OTA: </a:t>
            </a:r>
            <a:r>
              <a:rPr lang="en-US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nhận bản hợp lệ, hủy khi lỗi, tự về bản cũ khi treo</a:t>
            </a:r>
            <a:endParaRPr lang="en-US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Mất mạng: </a:t>
            </a:r>
            <a:r>
              <a:rPr lang="en-US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LCD, đèn, còi vẫn hoạt động; log gửi bù khi có mạng</a:t>
            </a:r>
            <a:endParaRPr lang="en-US" dirty="0"/>
          </a:p>
        </p:txBody>
      </p:sp>
      <p:sp>
        <p:nvSpPr>
          <p:cNvPr id="5" name="Text 3"/>
          <p:cNvSpPr txBox="1"/>
          <p:nvPr/>
        </p:nvSpPr>
        <p:spPr>
          <a:xfrm>
            <a:off x="175666" y="5794310"/>
            <a:ext cx="4846320" cy="4553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 err="1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Hình</a:t>
            </a:r>
            <a:r>
              <a:rPr lang="en-US" sz="13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4.16: Tin nhắn cảnh báo trong nhóm Telegram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340157" y="5764452"/>
            <a:ext cx="4846320" cy="453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 err="1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Hình</a:t>
            </a:r>
            <a:r>
              <a:rPr lang="en-US" sz="13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4.19: Serial Monitor khi nhận ngưỡng mới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28232"/>
            <a:ext cx="822960" cy="402336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3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6E8150A-D50A-C3DD-67AB-3ED34F9B20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" y="3213359"/>
            <a:ext cx="3947973" cy="254922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8DC843E-E1E3-A5B8-6F71-D7E62308F2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3274" y="4815140"/>
            <a:ext cx="5760085" cy="97917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3444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V. KẾT LUẬN VÀ HẠN CHẾ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683C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KẾT LUẬN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5486400" cy="4297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Hoàn thành hệ thống IoT giám sát ngập tầng hầm theo kiến trúc ba lớp</a:t>
            </a:r>
            <a:endParaRPr lang="en-US" sz="16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Đáp ứng phần lớn yêu cầu chức năng và phi chức năng ở mức mô hình</a:t>
            </a:r>
            <a:endParaRPr lang="en-US" sz="16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Chi phí thấp, cảnh báo tại chỗ hoạt động cả khi mất mạng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683C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HẠN CHẾ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1920240"/>
            <a:ext cx="5303520" cy="4297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Cảm biến HC-SR04 chưa chống nước</a:t>
            </a:r>
            <a:endParaRPr lang="en-US" sz="16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Mới thử trên mô hình thu nhỏ và một thiết bị</a:t>
            </a:r>
            <a:endParaRPr lang="en-US" sz="16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Chưa có nguồn dự phòng, chưa có thoát nước</a:t>
            </a:r>
            <a:endParaRPr lang="en-US" sz="16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Trang web chưa có bảo mật truy cập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28232"/>
            <a:ext cx="822960" cy="402336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3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3444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V. HƯỚNG PHÁT TRIỂN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Thay bằng cảm biến chống nước JSN-SR04T</a:t>
            </a:r>
            <a:endParaRPr lang="en-US" sz="22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Tách tín hiệu hai mức dùng chung đèn vàng; tách kênh Telegram theo vai trò</a:t>
            </a:r>
            <a:endParaRPr lang="en-US" sz="22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Bảo vệ web bằng Cloudflare Access (OTP qua Gmail)</a:t>
            </a:r>
            <a:endParaRPr lang="en-US" sz="22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Cải thiện ước lượng thời gian, thử nghiệm nhiều thiết bị</a:t>
            </a:r>
            <a:endParaRPr lang="en-US" sz="2200" dirty="0"/>
          </a:p>
          <a:p>
            <a:pPr marL="254000" indent="-254000">
              <a:spcAft>
                <a:spcPts val="9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Bổ sung cảm biến độ ẩm hoặc dòng chảy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28232"/>
            <a:ext cx="822960" cy="402336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3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2683C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XIN CHÂN THÀNH CẢM ƠN!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Kính mong nhận được ý kiến đóng góp của thầy cô và các bạn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28232"/>
            <a:ext cx="822960" cy="402336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3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2377</Words>
  <Application>Microsoft Office PowerPoint</Application>
  <PresentationFormat>Widescreen</PresentationFormat>
  <Paragraphs>278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Báo cáo kỹ thuật - IoT giám sát ngập lụt tầng hầm</dc:title>
  <dc:subject>PptxGenJS Presentation</dc:subject>
  <dc:creator>PptxGenJS</dc:creator>
  <cp:lastModifiedBy>Mạnh Kiên Lưu</cp:lastModifiedBy>
  <cp:revision>10</cp:revision>
  <dcterms:created xsi:type="dcterms:W3CDTF">2026-10-06T03:28:04Z</dcterms:created>
  <dcterms:modified xsi:type="dcterms:W3CDTF">2026-10-08T03:27:18Z</dcterms:modified>
</cp:coreProperties>
</file>