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"/>
    <p:sldMasterId id="2147483651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8" r:id="rId9"/>
    <p:sldMasterId id="2147483659" r:id="rId10"/>
    <p:sldMasterId id="2147483660" r:id="rId11"/>
    <p:sldMasterId id="2147483661" r:id="rId12"/>
    <p:sldMasterId id="2147483662" r:id="rId13"/>
    <p:sldMasterId id="2147483663" r:id="rId14"/>
    <p:sldMasterId id="2147483664" r:id="rId15"/>
    <p:sldMasterId id="2147483665" r:id="rId16"/>
    <p:sldMasterId id="2147483666" r:id="rId17"/>
  </p:sldMasterIdLst>
  <p:notesMasterIdLst>
    <p:notesMasterId r:id="rId34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21" Type="http://schemas.openxmlformats.org/officeDocument/2006/relationships/slide" Target="slides/slide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6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7EE2-8C1C-F089-4CDF-8C0A691F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3DAC7-39CD-55B0-8178-36B15FBFE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3740A-6320-3CF4-690B-0AB9F7CC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353B-AD1B-47F5-AB5A-2F004D24342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0D574-BA33-51D8-C784-DF057D2D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1C49-4400-F9F6-2A5E-1B76353D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4DB7-7CFB-46B0-BE9C-C5960C2F62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C949-CC36-E598-82AD-DE12FA5B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59E71-D7FD-5B65-2F15-4CD31289F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FC570-1E6F-8619-9667-DA46AECE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353B-AD1B-47F5-AB5A-2F004D24342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3182B-7380-C837-D823-0854DB50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1CA9-9548-1A57-B726-E134ECB3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94DB7-7CFB-46B0-BE9C-C5960C2F629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388A2A-4F56-9D01-50D3-91CD6BC6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DE4B9-DB47-4512-254A-F6FB9242F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EB0E2-53DA-91F9-6DC0-ADE8E04EA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F353B-AD1B-47F5-AB5A-2F004D24342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DE3E3-57FE-6FD8-7F2A-C5A204CA2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3B178-FF46-22FA-B841-B190EEB9A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94DB7-7CFB-46B0-BE9C-C5960C2F62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438912"/>
            <a:ext cx="923544" cy="877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5029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TRƯỜNG ĐẠI HỌC CÔNG NGHỆ THÔNG TIN VÀ TRUYỀN THÔNG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0" y="9601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KỸ THUẬT VÀ CÔNG NGHỆ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20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 CÁO KỸ THUẬT - ỨNG DỤNG IOT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83464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MÔ HÌNH HỆ THỐNG IOT GIÁM SÁT NGẬP LỤT TRONG TẦNG HẦM GỬI XE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926080" y="4389120"/>
            <a:ext cx="63093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THÁI NGUYÊN, THÁNG 10 NĂM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THÔNG TIN ĐỀ TÀI VÀ NHÓM THỰC HIỆN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 tài: </a:t>
            </a: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mô hình hệ thống IoT giám sát ngập lụt trong tầng hầm gửi xe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FontTx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 hướng dẫn: </a:t>
            </a:r>
            <a:r>
              <a:rPr lang="en-US" dirty="0"/>
              <a:t>TS. Phạm Thành Nam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7724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SINH VIÊN THỰC HIỆN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54864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Mạnh Kiên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Nông</a:t>
            </a: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Duy Huynh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Dương Hoàng Anh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Thanh Trường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Đức Thắng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quan và tính cấp thiết của đề tài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lý thuyết và lựa chọn công nghệ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tích và thiết kế hệ thống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Hiện thực hóa và thử nghiệm mô hình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 và hướng phát triển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TỔNG QUAN VÀ TÍNH CẤP THIẾT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Đô thị hóa nhanh kéo theo nhu cầu gửi xe tầng hầm tại Hà Nội, TP.HCM, Đà Nẵng, Thái Nguyên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Tầng hầm là điểm trũng nhất công trình, nước không thể tự thoát theo trọng lực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Mưa cực đoan làm cống quá tải; nước tràn qua ram dốc khi vượt gờ chắn 15 - 30 cm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lượng nước tràn vào có thể lên tới hàng trăm lít/giây, vượt công suất trạm bơm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720840" y="4439517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1.1: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Hầm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gửi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bị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ngập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nặng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nề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trận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mưa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7" name="Picture 6" descr="Giải cứu' hầm chung cư bị ngập trong nước - Báo Tiền Phong">
            <a:extLst>
              <a:ext uri="{FF2B5EF4-FFF2-40B4-BE49-F238E27FC236}">
                <a16:creationId xmlns:a16="http://schemas.microsoft.com/office/drawing/2014/main" id="{D3B55198-A248-A977-9D41-0A12FAB9C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1267692"/>
            <a:ext cx="47625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THIỆT HẠI DO NGẬP ÚNG TẦNG HẦM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Phương tiện: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thủy kích, chập cháy điện, hàng trăm xe máy và ô tô hư hỏng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điện: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máy phát điện dự phòng, trạm biến áp, tủ điện MSB/MDB, ATS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Bơm và thang máy: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bơm PCCC, bơm cấp nước, đáy giếng thang máy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ninh: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barrier, đầu đọc RFID, camera, máy chủ dữ liệu vé xe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Hậu quả: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 liệt đồng bộ điện, nước, PCCC, thang máy và đe dọa an toàn con người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720840" y="469144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1.2: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Hầm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gửi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bị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ngập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nặng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nề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trận mưa lớn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04292-C7C0-589C-D961-41510006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8422" y="1519619"/>
            <a:ext cx="4751156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KIẾN TRÚC IOT BA LỚP CỦA HỆ THỐNG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1463040"/>
            <a:ext cx="1110529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 cảm biến và xử lý tại chỗ: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lọc nhiễu, tính tốc độ dâng, tự kích hoạt còi và đèn (điện toán biên)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 mạng: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Wi-Fi nội bộ tòa nhà, MQTT qua TLS cổng 8883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 đám mây Serverless: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Cloudflare Worker xử lý cảnh báo, ghi log, ngưỡng, OTA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khác biệt: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phép tính an toàn thực hiện tại chỗ, không phụ thuộc mạng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4436549" y="5815583"/>
            <a:ext cx="3318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2.1: Sơ đồ khối kiến trúc IoT ba lớp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7D79F-636D-3E3F-BD83-E25F319C7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80" y="3578832"/>
            <a:ext cx="8397036" cy="1816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KHẢO SÁT VÀ LỰA CHỌN CÔNG NGHỆ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550602"/>
              </p:ext>
            </p:extLst>
          </p:nvPr>
        </p:nvGraphicFramePr>
        <p:xfrm>
          <a:off x="548640" y="1554480"/>
          <a:ext cx="11064240" cy="25847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Thành phần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Lựa chọn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Lý do chính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 điều khiển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ESP32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Wi-Fi tích hợp, hai nhân xử lý, đủ flash cho firmware kép (OTA), giá rẻ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Cảm biến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HC-SR04 (siêu âm)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Đo không tiếp xúc nước, đo liên tục, chi phí thấp, lắp đặt đơn giản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Đám mây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Cloudflare Worker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Gói miễn phí, tự viết logic xử lý, độ trễ thấp, tích hợp cơ sở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dữ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liệu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D1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Truyền realtime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MQTT + HiveMQ Cloud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Gói miễn phí, bảo mật TLS, không cần tự dựng máy chủ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Kênh thông báo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Telegram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API công khai miễn phí, không cần đăng ký doanh nghiệp, gửi được cho nhóm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GIAO THỨC MQTT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Publish/Subscribe: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 và web giao tiếp qua broker trung gian, kết nối giữ liên tục, gói tin nhỏ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đo: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publish JSON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gồm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khoảng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khoảng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bình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độ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mực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nước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cổng 8883, xác thực bằng tên đăng nhập và mật khẩu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phụ: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Tiến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cập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OTA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và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log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lúc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đang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cập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mềm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Tự </a:t>
            </a:r>
            <a:r>
              <a:rPr lang="en-US" b="1" dirty="0" err="1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phục</a:t>
            </a: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 err="1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hồi</a:t>
            </a: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Giữ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nối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30 giây, tự kết nối lại sau 5 giây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37960" y="173736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09560" y="2171700"/>
            <a:ext cx="54864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200" y="173736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Broker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HiveMQ Cloud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29800" y="2171700"/>
            <a:ext cx="54864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78440" y="173736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306324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DF2D0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nối mã hóa TLS, cổng 8883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93192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Broker </a:t>
            </a:r>
            <a:r>
              <a:rPr lang="en-US" sz="14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</a:t>
            </a: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“offline” khi ESP32 mất kết nối, thiết bị </a:t>
            </a:r>
            <a:r>
              <a:rPr lang="en-US" sz="14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</a:t>
            </a: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“online” khi kết nối lại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2F8747-A883-AF33-8FC0-5AF5729A5C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363" y="1397765"/>
            <a:ext cx="6724089" cy="40624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THIẾT KẾ PHẦN CỨNG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648511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 điều khiển trung tâm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HC-SR04: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biến siêu âm, chân nhận phản hồi GPIO 18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LCD 16x2 (I2C):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hiển thị trạng thái tại chỗ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đèn LED: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xanh, vàng, đỏ tại GPIO 25, 26, 27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Còi báo động: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GPIO 19; LED Wi-Fi GPIO 2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16945" y="5745791"/>
            <a:ext cx="3646403" cy="472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3.1: Sơ đồ khối chức năng phần cứng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XỬ LÝ TẠI CHỖ TRÊN ESP32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909352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Hai luồng song song: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một nhân đo và cảnh báo, một nhân lo mạng; mất mạng không ảnh hưởng cảnh báo</a:t>
            </a:r>
            <a:endParaRPr lang="en-US" sz="20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Giám sát treo: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chế watchdog tự khởi động lại khi hệ thống treo</a:t>
            </a:r>
            <a:endParaRPr lang="en-US" sz="20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 và lọc nhiễu: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 mỗi giây, lọc bằng trung bình trượt</a:t>
            </a:r>
            <a:endParaRPr lang="en-US" sz="20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Tốc độ dâng: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tính mỗi 5 giây (cm/phút), ước lượng thời gian còn lại đến ngưỡng nguy hiểm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PHÂN LOẠI BỐN MỨC CẢNH BÁO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026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Mức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Khoảng cách từ cảm biến đến mặt nước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Đầu ra tại chỗ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 toàn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Lớn hơn 100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xanh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Phát hiện nước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40 - 100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vàng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Trung bình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15 - 40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vàng, LCD báo nước dâng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Nguy hiểm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Nhỏ hơn hoặc bằng 15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đỏ và còi báo động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 ngưỡng cấu hình từ xa; giá trị trên là cấu hình của mô hình thử nghiệm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Mỗi lần đổi mức, hệ thống gửi một tin Telegram, không gửi trùng khi mức đứng yên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18C6DE-57E1-9DF9-3FF1-944C3F73F0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36" y="1255049"/>
            <a:ext cx="4955524" cy="50804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LỚP MẠNG, ĐÁM MÂY VÀ CÁC LUỒNG DỮ LIỆU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Năm luồng độc lập: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MQTT realtime, cảnh báo Telegram, ghi log D1, lấy ngưỡng động, cập nhật OTA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Ghi log có điều kiện: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 đổi từ 3 cm, đổi mức hoặc theo chu kỳ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Ngưỡng động: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 lấy cấu hình mới mỗi 30 giây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Tự bảo vệ: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mỗi luồng kiểm tra kết nối trước khi gửi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38081" y="6031308"/>
            <a:ext cx="4846320" cy="304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3.3: Luồng gửi cảnh báo khẩn cấp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GIAO DIỆN WEB GIÁM SÁT VÀ QUẢN TRỊ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525172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Giám sát: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trạng thái kết nối, khoảng cách hiện tại, xu hướng và tốc độ dâng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Trực quan: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bể nước mô phỏng, biểu đồ dữ liệu thô và đã lọc, bảng lịch sử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cấu hình ngưỡng, xuất dữ liệu, quản lý firmware, đổi Wi-Fi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85789" y="5682610"/>
            <a:ext cx="4279952" cy="466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3.2: Giao diện Web giám sát thời gian thực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63089" y="5634791"/>
            <a:ext cx="4126929" cy="562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3.6: Giao diện Web cài đặt và quản lý dữ liệu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4CDA43-5AAC-5BCD-CB31-8660911E3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0" y="2903724"/>
            <a:ext cx="5977811" cy="2710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38FDCC-8289-BA55-E0A7-FE0284411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658" y="2903724"/>
            <a:ext cx="5896482" cy="27101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CẬP NHẬT FIRMWARE OTA VÀ ĐỘ TIN CẬY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8542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OTA: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phiên bản, tải vào phân vùng dự phòng, kiểm tra toàn vẹn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Khởi động thử: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nhận khi có Wi-Fi, check-in thành công và đọc được cảm biến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Tự khôi phục: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quay về bản cũ nếu bản mới treo hoặc không xác nhận kịp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Mất điện diện rộng: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 chạy máy phát, Wi-Fi và Cloudflare là ba mắt xích độc lập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91265" y="5930538"/>
            <a:ext cx="4846320" cy="5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3.5: Sơ đồ kiểm tra và cập nhật firmware từ xa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34CA9-78A5-010F-F583-A97FE65F3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265" y="1227732"/>
            <a:ext cx="4552095" cy="476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KẾT QUẢ ĐO VÀ PHẢN HỒI TẠI CHỖ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760720" cy="1950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Thực tế (cm)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Cảm biến đọc (cm)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Sai số (cm)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30,6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80,7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57607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 số tuyệt đối 0,2 - 1 cm, trung bình khoảng 0,6 cm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Đèn, còi và LCD phản hồi đúng bốn mức cảnh báo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789410" y="60167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4.14: Mạch thực tế ở các mức cảnh báo (đèn, LCD)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5F077A-2E1E-3C2A-DC22-AAAE53699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380" y="1295181"/>
            <a:ext cx="5166380" cy="48070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KẾT LUẬN VÀ HẠN CHẾ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Hoàn thành hệ thống IoT giám sát ngập tầng hầm theo kiến trúc ba lớp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Đáp ứng phần lớn yêu cầu chức năng và phi chức năng ở mức mô hình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 phí thấp, cảnh báo tại chỗ hoạt động cả khi mất mạng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HẠN CHẾ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920240"/>
            <a:ext cx="53035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biến HC-SR04 chưa chống nước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Mới thử trên mô hình thu nhỏ và một thiết bị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có nguồn dự phòng, chưa có thoát nước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web chưa có bảo mật truy cập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1481</Words>
  <Application>Microsoft Office PowerPoint</Application>
  <PresentationFormat>Widescreen</PresentationFormat>
  <Paragraphs>180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16</vt:i4>
      </vt:variant>
    </vt:vector>
  </HeadingPairs>
  <TitlesOfParts>
    <vt:vector size="37" baseType="lpstr">
      <vt:lpstr>Aptos</vt:lpstr>
      <vt:lpstr>Aptos Display</vt:lpstr>
      <vt:lpstr>Arial</vt:lpstr>
      <vt:lpstr>Times New Roman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kỹ thuật - IoT giám sát ngập lụt tầng hầm</dc:title>
  <dc:subject>PptxGenJS Presentation</dc:subject>
  <dc:creator>PptxGenJS</dc:creator>
  <cp:lastModifiedBy>Mạnh Kiên Lưu</cp:lastModifiedBy>
  <cp:revision>15</cp:revision>
  <dcterms:created xsi:type="dcterms:W3CDTF">2026-10-06T03:28:04Z</dcterms:created>
  <dcterms:modified xsi:type="dcterms:W3CDTF">2026-10-30T05:47:36Z</dcterms:modified>
</cp:coreProperties>
</file>